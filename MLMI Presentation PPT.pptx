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7" r:id="rId4"/>
    <p:sldId id="259" r:id="rId5"/>
    <p:sldId id="272" r:id="rId6"/>
    <p:sldId id="260" r:id="rId7"/>
    <p:sldId id="261" r:id="rId8"/>
    <p:sldId id="273" r:id="rId9"/>
    <p:sldId id="274" r:id="rId10"/>
    <p:sldId id="262" r:id="rId11"/>
    <p:sldId id="263" r:id="rId12"/>
    <p:sldId id="264" r:id="rId13"/>
    <p:sldId id="265" r:id="rId14"/>
    <p:sldId id="275" r:id="rId15"/>
    <p:sldId id="266" r:id="rId16"/>
    <p:sldId id="267" r:id="rId17"/>
    <p:sldId id="276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05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2"/>
          <p:cNvSpPr txBox="1"/>
          <p:nvPr/>
        </p:nvSpPr>
        <p:spPr>
          <a:xfrm>
            <a:off x="1360651" y="2456406"/>
            <a:ext cx="9686793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400" b="1">
                <a:solidFill>
                  <a:srgbClr val="D511B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3000" dirty="0">
                <a:solidFill>
                  <a:srgbClr val="FF0000"/>
                </a:solidFill>
              </a:rPr>
              <a:t>Machine Learning-Assisted Exploration of Thermally Conductive Polymers</a:t>
            </a:r>
          </a:p>
        </p:txBody>
      </p:sp>
      <p:sp>
        <p:nvSpPr>
          <p:cNvPr id="95" name="Subtitle 2"/>
          <p:cNvSpPr txBox="1"/>
          <p:nvPr/>
        </p:nvSpPr>
        <p:spPr>
          <a:xfrm>
            <a:off x="1179522" y="4794705"/>
            <a:ext cx="9578674" cy="2107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72000"/>
              </a:lnSpc>
              <a:spcBef>
                <a:spcPts val="1000"/>
              </a:spcBef>
              <a:defRPr sz="2600">
                <a:solidFill>
                  <a:srgbClr val="FF0000"/>
                </a:solidFill>
              </a:defRPr>
            </a:pPr>
            <a:r>
              <a:rPr dirty="0"/>
              <a:t>Presenter:</a:t>
            </a:r>
            <a:endParaRPr sz="2200" dirty="0"/>
          </a:p>
          <a:p>
            <a:pPr algn="ctr">
              <a:lnSpc>
                <a:spcPct val="72000"/>
              </a:lnSpc>
              <a:spcBef>
                <a:spcPts val="1000"/>
              </a:spcBef>
              <a:defRPr sz="2600"/>
            </a:pPr>
            <a:r>
              <a:rPr dirty="0"/>
              <a:t>Harsh </a:t>
            </a:r>
            <a:r>
              <a:rPr dirty="0" err="1" smtClean="0"/>
              <a:t>Hotala</a:t>
            </a:r>
            <a:r>
              <a:rPr lang="en-GB" dirty="0" smtClean="0"/>
              <a:t> (</a:t>
            </a:r>
            <a:r>
              <a:rPr lang="en-US" dirty="0" smtClean="0"/>
              <a:t>22EEB0A64)</a:t>
            </a:r>
            <a:r>
              <a:rPr dirty="0" smtClean="0"/>
              <a:t> </a:t>
            </a:r>
            <a:r>
              <a:rPr lang="en-GB" dirty="0"/>
              <a:t/>
            </a:r>
            <a:br>
              <a:rPr lang="en-GB" dirty="0"/>
            </a:br>
            <a:r>
              <a:rPr dirty="0" err="1" smtClean="0"/>
              <a:t>Vivek</a:t>
            </a:r>
            <a:r>
              <a:rPr dirty="0" smtClean="0"/>
              <a:t> Kumar</a:t>
            </a:r>
            <a:r>
              <a:rPr lang="en-GB" dirty="0" smtClean="0"/>
              <a:t> (</a:t>
            </a:r>
            <a:r>
              <a:rPr lang="en-US" dirty="0"/>
              <a:t>21BTB0A81</a:t>
            </a:r>
            <a:r>
              <a:rPr lang="en-GB" dirty="0" smtClean="0"/>
              <a:t>)</a:t>
            </a:r>
            <a:endParaRPr sz="2200" dirty="0"/>
          </a:p>
          <a:p>
            <a:pPr algn="ctr">
              <a:lnSpc>
                <a:spcPct val="72000"/>
              </a:lnSpc>
              <a:spcBef>
                <a:spcPts val="1000"/>
              </a:spcBef>
              <a:defRPr sz="2600"/>
            </a:pPr>
            <a:endParaRPr sz="2200" dirty="0"/>
          </a:p>
        </p:txBody>
      </p:sp>
      <p:sp>
        <p:nvSpPr>
          <p:cNvPr id="96" name="TextBox 7"/>
          <p:cNvSpPr txBox="1"/>
          <p:nvPr/>
        </p:nvSpPr>
        <p:spPr>
          <a:xfrm>
            <a:off x="2341253" y="790565"/>
            <a:ext cx="750949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200" b="1">
                <a:solidFill>
                  <a:srgbClr val="7030A0"/>
                </a:solidFill>
              </a:defRPr>
            </a:lvl1pPr>
          </a:lstStyle>
          <a:p>
            <a:endParaRPr dirty="0"/>
          </a:p>
        </p:txBody>
      </p:sp>
      <p:sp>
        <p:nvSpPr>
          <p:cNvPr id="97" name="Title 4"/>
          <p:cNvSpPr txBox="1">
            <a:spLocks noGrp="1"/>
          </p:cNvSpPr>
          <p:nvPr>
            <p:ph type="title"/>
          </p:nvPr>
        </p:nvSpPr>
        <p:spPr>
          <a:xfrm>
            <a:off x="1672389" y="213782"/>
            <a:ext cx="10018868" cy="1671002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t>NATIONAL INSTITUTE OF TECHNOLOGY, WARANGAL</a:t>
            </a:r>
          </a:p>
        </p:txBody>
      </p:sp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3502" y="557474"/>
            <a:ext cx="922423" cy="983618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Box 9"/>
          <p:cNvSpPr txBox="1"/>
          <p:nvPr/>
        </p:nvSpPr>
        <p:spPr>
          <a:xfrm>
            <a:off x="1565926" y="3394723"/>
            <a:ext cx="8652217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/>
          </a:p>
        </p:txBody>
      </p:sp>
      <p:sp>
        <p:nvSpPr>
          <p:cNvPr id="101" name="TextBox 14"/>
          <p:cNvSpPr txBox="1"/>
          <p:nvPr/>
        </p:nvSpPr>
        <p:spPr>
          <a:xfrm>
            <a:off x="1613602" y="3721706"/>
            <a:ext cx="896479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2400" b="1">
                <a:solidFill>
                  <a:srgbClr val="3857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 smtClean="0"/>
              <a:t>MLMI </a:t>
            </a:r>
            <a:r>
              <a:rPr dirty="0"/>
              <a:t>PRESENTATION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4"/>
          <p:cNvSpPr txBox="1">
            <a:spLocks noGrp="1"/>
          </p:cNvSpPr>
          <p:nvPr>
            <p:ph type="title"/>
          </p:nvPr>
        </p:nvSpPr>
        <p:spPr>
          <a:xfrm>
            <a:off x="166736" y="635562"/>
            <a:ext cx="11858528" cy="275196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rgbClr val="6D00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dirty="0">
                <a:solidFill>
                  <a:srgbClr val="FF0000"/>
                </a:solidFill>
              </a:rPr>
              <a:t> Machine Learning-Assisted Exploration of Thermally Conductive Polymers</a:t>
            </a:r>
          </a:p>
        </p:txBody>
      </p:sp>
      <p:pic>
        <p:nvPicPr>
          <p:cNvPr id="108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Box 3"/>
          <p:cNvSpPr txBox="1"/>
          <p:nvPr/>
        </p:nvSpPr>
        <p:spPr>
          <a:xfrm>
            <a:off x="1360459" y="3747239"/>
            <a:ext cx="9068552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>
            <a:lvl1pPr algn="ctr">
              <a:lnSpc>
                <a:spcPct val="90000"/>
              </a:lnSpc>
              <a:defRPr sz="35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rPr dirty="0">
                <a:solidFill>
                  <a:schemeClr val="bg2"/>
                </a:solidFill>
              </a:rPr>
              <a:t>Using High-Throughput Molecular Dynamics to Find New Materials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4"/>
          <p:cNvSpPr txBox="1">
            <a:spLocks noGrp="1"/>
          </p:cNvSpPr>
          <p:nvPr>
            <p:ph type="title"/>
          </p:nvPr>
        </p:nvSpPr>
        <p:spPr>
          <a:xfrm>
            <a:off x="1930401" y="368743"/>
            <a:ext cx="7787106" cy="613444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dirty="0"/>
              <a:t>CONTENTS OF THE PRESENTATION</a:t>
            </a:r>
          </a:p>
        </p:txBody>
      </p:sp>
      <p:pic>
        <p:nvPicPr>
          <p:cNvPr id="104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8320" y="328099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Content Placeholder 2"/>
          <p:cNvSpPr txBox="1"/>
          <p:nvPr/>
        </p:nvSpPr>
        <p:spPr>
          <a:xfrm>
            <a:off x="2052320" y="982187"/>
            <a:ext cx="8253779" cy="510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3200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lists the main sections of the talk: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setup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(RDF, MSD,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ARRHENIUS)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&amp;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3200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" descr="Pictur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2085" y="416236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Most amorphous polymers (like everyday plastics) are thermal insulators (they trap heat).…"/>
          <p:cNvSpPr txBox="1"/>
          <p:nvPr/>
        </p:nvSpPr>
        <p:spPr>
          <a:xfrm>
            <a:off x="228600" y="1085756"/>
            <a:ext cx="12222480" cy="5795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0736" indent="-280736">
              <a:lnSpc>
                <a:spcPct val="120000"/>
              </a:lnSpc>
              <a:spcBef>
                <a:spcPts val="1000"/>
              </a:spcBef>
              <a:buSzPct val="60000"/>
              <a:buBlip>
                <a:blip r:embed="rId5"/>
              </a:buBlip>
              <a:defRPr sz="2800"/>
            </a:pP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amorphous polymers (like everyday plastics) are </a:t>
            </a:r>
            <a:r>
              <a:rPr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insulators</a:t>
            </a: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(they trap heat).</a:t>
            </a:r>
          </a:p>
          <a:p>
            <a:pPr marL="280736" indent="-280736">
              <a:lnSpc>
                <a:spcPct val="120000"/>
              </a:lnSpc>
              <a:spcBef>
                <a:spcPts val="1000"/>
              </a:spcBef>
              <a:buSzPct val="60000"/>
              <a:buBlip>
                <a:blip r:embed="rId5"/>
              </a:buBlip>
              <a:defRPr sz="2800"/>
            </a:pP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we </a:t>
            </a:r>
            <a:r>
              <a:rPr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them to conduct heat for applications like electronics, thermal interface materials, and heat exchangers.</a:t>
            </a:r>
          </a:p>
          <a:p>
            <a:pPr marL="280736" indent="-280736">
              <a:lnSpc>
                <a:spcPct val="120000"/>
              </a:lnSpc>
              <a:spcBef>
                <a:spcPts val="1000"/>
              </a:spcBef>
              <a:buSzPct val="60000"/>
              <a:buBlip>
                <a:blip r:embed="rId5"/>
              </a:buBlip>
              <a:defRPr sz="2800"/>
            </a:pPr>
            <a:r>
              <a:rPr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 these special high-conductivity polymers is like finding a needle in a haystack.</a:t>
            </a:r>
          </a:p>
          <a:p>
            <a:pPr marL="280736" indent="-280736">
              <a:lnSpc>
                <a:spcPct val="120000"/>
              </a:lnSpc>
              <a:spcBef>
                <a:spcPts val="1000"/>
              </a:spcBef>
              <a:buSzPct val="60000"/>
              <a:buBlip>
                <a:blip r:embed="rId5"/>
              </a:buBlip>
              <a:defRPr sz="2800"/>
            </a:pPr>
            <a:r>
              <a:rPr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Experimentally testing thousands of polymers is too slow and expensive. Existing databases are very small and have "noisy" data.</a:t>
            </a:r>
          </a:p>
        </p:txBody>
      </p:sp>
      <p:sp>
        <p:nvSpPr>
          <p:cNvPr id="113" name="We Need Better Plastics for Heat Transfer"/>
          <p:cNvSpPr txBox="1"/>
          <p:nvPr/>
        </p:nvSpPr>
        <p:spPr>
          <a:xfrm>
            <a:off x="947548" y="327044"/>
            <a:ext cx="10784584" cy="743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4700">
                <a:solidFill>
                  <a:srgbClr val="9933FF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 algn="l"/>
            <a:r>
              <a:rPr dirty="0"/>
              <a:t>We Need Better Plastics for Heat Transfer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2767" y="649815"/>
            <a:ext cx="581904" cy="62051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Most amorphous polymers (like everyday plastics) are thermal insulators (they trap heat).…"/>
          <p:cNvSpPr txBox="1"/>
          <p:nvPr/>
        </p:nvSpPr>
        <p:spPr>
          <a:xfrm>
            <a:off x="845489" y="1331710"/>
            <a:ext cx="10621044" cy="5152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0736" indent="-280736">
              <a:lnSpc>
                <a:spcPct val="120000"/>
              </a:lnSpc>
              <a:spcBef>
                <a:spcPts val="1000"/>
              </a:spcBef>
              <a:buSzPct val="60000"/>
              <a:buBlip>
                <a:blip r:embed="rId4"/>
              </a:buBlip>
              <a:defRPr sz="2800"/>
            </a:pPr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Too Slow. Experimentally synthesizing and testing thousands of potential polymers is not feasible.  </a:t>
            </a:r>
          </a:p>
          <a:p>
            <a:pPr marL="280736" indent="-280736">
              <a:lnSpc>
                <a:spcPct val="120000"/>
              </a:lnSpc>
              <a:spcBef>
                <a:spcPts val="1000"/>
              </a:spcBef>
              <a:buSzPct val="60000"/>
              <a:buBlip>
                <a:blip r:embed="rId4"/>
              </a:buBlip>
              <a:defRPr sz="2800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Too Expensive. The cost of materials and lab time is extremely high.  </a:t>
            </a:r>
          </a:p>
          <a:p>
            <a:pPr marL="280736" indent="-280736">
              <a:lnSpc>
                <a:spcPct val="120000"/>
              </a:lnSpc>
              <a:spcBef>
                <a:spcPts val="1000"/>
              </a:spcBef>
              <a:buSzPct val="60000"/>
              <a:buBlip>
                <a:blip r:embed="rId4"/>
              </a:buBlip>
              <a:defRPr sz="2800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3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Bad Data. Existing databases for polymer thermal conductivity are very small and often contain "noisy" or unreliable data.  </a:t>
            </a:r>
          </a:p>
          <a:p>
            <a:pPr marL="280736" indent="-280736">
              <a:lnSpc>
                <a:spcPct val="120000"/>
              </a:lnSpc>
              <a:spcBef>
                <a:spcPts val="1000"/>
              </a:spcBef>
              <a:buSzPct val="60000"/>
              <a:buBlip>
                <a:blip r:embed="rId4"/>
              </a:buBlip>
              <a:defRPr sz="2800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faster, cheaper, and more accurate method.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We Need Better Plastics for Heat Transfer"/>
          <p:cNvSpPr txBox="1"/>
          <p:nvPr/>
        </p:nvSpPr>
        <p:spPr>
          <a:xfrm>
            <a:off x="763719" y="588430"/>
            <a:ext cx="10784584" cy="743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4700">
                <a:solidFill>
                  <a:srgbClr val="9933FF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rPr lang="en-GB" dirty="0"/>
              <a:t>Why is Finding High-TC Polymers Hard?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542995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1783" y="385406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A Clear Target: Find Polymers &gt; 0.300 W/m-K"/>
          <p:cNvSpPr txBox="1"/>
          <p:nvPr/>
        </p:nvSpPr>
        <p:spPr>
          <a:xfrm>
            <a:off x="797816" y="354660"/>
            <a:ext cx="10784584" cy="715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90000"/>
              </a:lnSpc>
              <a:defRPr sz="4500">
                <a:solidFill>
                  <a:srgbClr val="9933FF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rPr dirty="0"/>
              <a:t>A Clear Target: Find Polymers &gt; 0.300 W/m-K</a:t>
            </a:r>
          </a:p>
        </p:txBody>
      </p:sp>
      <p:sp>
        <p:nvSpPr>
          <p:cNvPr id="117" name="Our goal is to create a new, high-speed method to screen thousands of potential polymer structures.…"/>
          <p:cNvSpPr txBox="1">
            <a:spLocks noGrp="1"/>
          </p:cNvSpPr>
          <p:nvPr>
            <p:ph type="body" idx="4294967295"/>
          </p:nvPr>
        </p:nvSpPr>
        <p:spPr>
          <a:xfrm>
            <a:off x="538480" y="1229360"/>
            <a:ext cx="11043920" cy="4287520"/>
          </a:xfrm>
          <a:prstGeom prst="rect">
            <a:avLst/>
          </a:prstGeom>
        </p:spPr>
        <p:txBody>
          <a:bodyPr anchor="ctr"/>
          <a:lstStyle/>
          <a:p>
            <a:pPr>
              <a:buFontTx/>
              <a:defRPr sz="3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 is to create a new, high-speed method to screen thousands of potential polymer structures.</a:t>
            </a:r>
          </a:p>
          <a:p>
            <a:pPr>
              <a:buFontTx/>
              <a:defRPr sz="32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Target: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new amorphous polymers with a Thermal Conductivity (TC) greater than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0.300 W/m-K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defRPr sz="3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key threshold, as most common polymers are well below this value.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4"/>
          <p:cNvSpPr txBox="1">
            <a:spLocks noGrp="1"/>
          </p:cNvSpPr>
          <p:nvPr>
            <p:ph type="title"/>
          </p:nvPr>
        </p:nvSpPr>
        <p:spPr>
          <a:xfrm>
            <a:off x="1310509" y="267143"/>
            <a:ext cx="9570982" cy="1132061"/>
          </a:xfrm>
          <a:prstGeom prst="rect">
            <a:avLst/>
          </a:prstGeom>
        </p:spPr>
        <p:txBody>
          <a:bodyPr anchor="ctr"/>
          <a:lstStyle>
            <a:lvl1pPr algn="ctr" defTabSz="832104">
              <a:defRPr sz="3822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t> Our Workflow: Simulate, Learn, Discover </a:t>
            </a:r>
          </a:p>
        </p:txBody>
      </p:sp>
      <p:pic>
        <p:nvPicPr>
          <p:cNvPr id="12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7116" y="506129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We can't do experiments, so we'll use a computer-based workflow."/>
          <p:cNvSpPr txBox="1">
            <a:spLocks noGrp="1"/>
          </p:cNvSpPr>
          <p:nvPr>
            <p:ph type="body" sz="quarter" idx="4294967295"/>
          </p:nvPr>
        </p:nvSpPr>
        <p:spPr>
          <a:xfrm>
            <a:off x="2184648" y="1050295"/>
            <a:ext cx="7822704" cy="654088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indent="0" defTabSz="85039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32"/>
            </a:lvl1pPr>
          </a:lstStyle>
          <a:p>
            <a:r>
              <a:rPr dirty="0"/>
              <a:t>We can't do experiments, so we'll use a computer-based workflow.</a:t>
            </a:r>
          </a:p>
        </p:txBody>
      </p:sp>
      <p:sp>
        <p:nvSpPr>
          <p:cNvPr id="122" name="Part 1: Molecular Dynamics (MD) [Data Generation]…"/>
          <p:cNvSpPr txBox="1"/>
          <p:nvPr/>
        </p:nvSpPr>
        <p:spPr>
          <a:xfrm>
            <a:off x="496093" y="1705827"/>
            <a:ext cx="11450440" cy="5057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pPr defTabSz="402336">
              <a:spcBef>
                <a:spcPts val="1000"/>
              </a:spcBef>
              <a:defRPr sz="2376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Part 1: Molecular Dynamics (MD) [Data Generation]</a:t>
            </a:r>
            <a:endParaRPr b="0" dirty="0"/>
          </a:p>
          <a:p>
            <a:pPr marL="402336" indent="-279400" defTabSz="402336">
              <a:spcBef>
                <a:spcPts val="1000"/>
              </a:spcBef>
              <a:buSzPct val="100000"/>
              <a:buFont typeface="Helvetica"/>
              <a:buChar char="•"/>
              <a:defRPr sz="2376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First, we need reliable data to learn from.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Helvetica"/>
              <a:buChar char="•"/>
              <a:defRPr sz="2376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We used computer simulations (MD) to precisely calculate the TC for </a:t>
            </a:r>
            <a:r>
              <a:rPr b="1" dirty="0"/>
              <a:t>365 random polymers</a:t>
            </a:r>
            <a:r>
              <a:rPr dirty="0"/>
              <a:t>. This creates our "training dataset."</a:t>
            </a:r>
          </a:p>
          <a:p>
            <a:pPr defTabSz="402336">
              <a:spcBef>
                <a:spcPts val="1000"/>
              </a:spcBef>
              <a:defRPr sz="2376" b="1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/>
            </a:r>
            <a:br>
              <a:rPr dirty="0"/>
            </a:br>
            <a:r>
              <a:rPr dirty="0"/>
              <a:t>Part 2: Machine Learning (ML) [Screening]</a:t>
            </a:r>
            <a:endParaRPr b="0" dirty="0"/>
          </a:p>
          <a:p>
            <a:pPr marL="402336" indent="-279400" defTabSz="402336">
              <a:spcBef>
                <a:spcPts val="1000"/>
              </a:spcBef>
              <a:buSzPct val="100000"/>
              <a:buFont typeface="Helvetica"/>
              <a:buChar char="•"/>
              <a:defRPr sz="2376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Next, we trained an AI (a Random Forests model) on this new data.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Helvetica"/>
              <a:buChar char="•"/>
              <a:defRPr sz="2376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The AI "learned" the link between a polymer's chemical structure and its TC </a:t>
            </a:r>
            <a:br>
              <a:rPr dirty="0"/>
            </a:br>
            <a:r>
              <a:rPr dirty="0"/>
              <a:t>(R^2 = 0.789).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Helvetica"/>
              <a:buChar char="•"/>
              <a:defRPr sz="2376">
                <a:latin typeface="+mj-lt"/>
                <a:ea typeface="+mj-ea"/>
                <a:cs typeface="+mj-cs"/>
                <a:sym typeface="Helvetica"/>
              </a:defRPr>
            </a:pPr>
            <a:r>
              <a:rPr dirty="0"/>
              <a:t>We then used this trained AI to screen a massive database of </a:t>
            </a:r>
            <a:r>
              <a:rPr b="1" dirty="0"/>
              <a:t>12,777 polymers</a:t>
            </a:r>
            <a:r>
              <a:rPr dirty="0"/>
              <a:t> instantly.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817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832104">
              <a:defRPr sz="3822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GB" sz="3600" dirty="0" smtClean="0"/>
              <a:t>How </a:t>
            </a:r>
            <a:r>
              <a:rPr lang="en-GB" sz="3600" dirty="0"/>
              <a:t>We Simulate: Molecular Dynamics (MD)</a:t>
            </a:r>
            <a:endParaRPr sz="36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t">
            <a:normAutofit lnSpcReduction="10000"/>
          </a:bodyPr>
          <a:lstStyle/>
          <a:p>
            <a:pPr defTabSz="402336">
              <a:defRPr sz="2376" b="1">
                <a:latin typeface="+mj-lt"/>
                <a:ea typeface="+mj-ea"/>
                <a:cs typeface="+mj-cs"/>
                <a:sym typeface="Helvetica"/>
              </a:defRPr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MD (Molecular Dynamics) is a computer simulation method that models the physical movement of 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atoms.We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used MD to build 365 random polymer structures and precisely calculate their Thermal Conductivity (TC).  This creates the reliable "ground truth" data needed to train our ML 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model.Core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Calculation: Fourier's Law</a:t>
            </a:r>
            <a:b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</a:b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/>
            </a:r>
            <a:b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</a:b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The thermal conductivity (k) is calculated from the simulation using Fourier's Law:</a:t>
            </a:r>
            <a:r>
              <a:rPr lang="en-GB" b="1" dirty="0">
                <a:sym typeface="Helvetica"/>
              </a:rPr>
              <a:t/>
            </a:r>
            <a:br>
              <a:rPr lang="en-GB" b="1" dirty="0">
                <a:sym typeface="Helvetica"/>
              </a:rPr>
            </a:br>
            <a:r>
              <a:rPr lang="en-GB" sz="2680" b="1" dirty="0">
                <a:sym typeface="Helvetica"/>
              </a:rPr>
              <a:t> </a:t>
            </a:r>
            <a:r>
              <a:rPr lang="en-GB" sz="2680" b="1" dirty="0" smtClean="0">
                <a:sym typeface="Helvetica"/>
              </a:rPr>
              <a:t>                         </a:t>
            </a:r>
            <a:r>
              <a:rPr lang="en-GB" sz="268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k</a:t>
            </a:r>
            <a:r>
              <a:rPr lang="en-GB" sz="268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=-J</a:t>
            </a:r>
            <a:r>
              <a:rPr lang="en-GB" sz="268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/  T</a:t>
            </a:r>
            <a:r>
              <a:rPr lang="en-GB" sz="268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/>
            </a:r>
            <a:br>
              <a:rPr lang="en-GB" sz="268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</a:br>
            <a:r>
              <a:rPr lang="en-GB" b="1" dirty="0">
                <a:sym typeface="Helvetica"/>
              </a:rPr>
              <a:t/>
            </a:r>
            <a:br>
              <a:rPr lang="en-GB" b="1" dirty="0">
                <a:sym typeface="Helvetica"/>
              </a:rPr>
            </a:b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Where:</a:t>
            </a:r>
          </a:p>
          <a:p>
            <a:pPr defTabSz="402336">
              <a:defRPr sz="2376" b="1">
                <a:latin typeface="+mj-lt"/>
                <a:ea typeface="+mj-ea"/>
                <a:cs typeface="+mj-cs"/>
                <a:sym typeface="Helvetica"/>
              </a:defRPr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K is the Thermal Conductivity.</a:t>
            </a:r>
            <a:b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</a:b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J is the heat flux (energy flow) we apply in the simulation.</a:t>
            </a:r>
            <a:b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</a:b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(    T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) is the resulting temperature gradient across the polymer.</a:t>
            </a:r>
          </a:p>
          <a:p>
            <a:pPr defTabSz="402336">
              <a:defRPr sz="2376" b="1">
                <a:latin typeface="+mj-lt"/>
                <a:ea typeface="+mj-ea"/>
                <a:cs typeface="+mj-cs"/>
                <a:sym typeface="Helvetica"/>
              </a:defRPr>
            </a:pP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5686" y="365126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Isosceles Triangle 2"/>
          <p:cNvSpPr/>
          <p:nvPr/>
        </p:nvSpPr>
        <p:spPr>
          <a:xfrm>
            <a:off x="4367719" y="4328809"/>
            <a:ext cx="136187" cy="243191"/>
          </a:xfrm>
          <a:prstGeom prst="triangle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1279079" y="5682629"/>
            <a:ext cx="102681" cy="230491"/>
          </a:xfrm>
          <a:prstGeom prst="triangle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1497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4"/>
          <p:cNvSpPr txBox="1">
            <a:spLocks noGrp="1"/>
          </p:cNvSpPr>
          <p:nvPr>
            <p:ph type="title"/>
          </p:nvPr>
        </p:nvSpPr>
        <p:spPr>
          <a:xfrm>
            <a:off x="838200" y="-139955"/>
            <a:ext cx="10515600" cy="132679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832104">
              <a:defRPr sz="3822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GB" dirty="0"/>
              <a:t>How We Screen: Machine Learning (ML)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1845" y="1088506"/>
            <a:ext cx="11562184" cy="5433592"/>
          </a:xfrm>
        </p:spPr>
        <p:txBody>
          <a:bodyPr>
            <a:normAutofit fontScale="92500" lnSpcReduction="10000"/>
          </a:bodyPr>
          <a:lstStyle/>
          <a:p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used a Random Forests (RF) model. This model builds hundreds of simple "decision trees" and averages their predictions to make a final, highly accurate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one.</a:t>
            </a:r>
          </a:p>
          <a:p>
            <a:r>
              <a:rPr lang="en-GB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RF model was trained on our 365 simulated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polymers.</a:t>
            </a:r>
          </a:p>
          <a:p>
            <a:r>
              <a:rPr lang="en-GB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"learned" the complex relationship between a polymer's chemical structure and its thermal conductivity, achieving a high correlation (R^2 = 0.789).</a:t>
            </a:r>
            <a:b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 is the average (or majority vote) of all individual decision trees (</a:t>
            </a:r>
            <a:r>
              <a:rPr lang="en-GB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h_i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                            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k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Final TC= 1/k       </a:t>
            </a:r>
            <a:r>
              <a:rPr lang="en-GB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h_i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(structure features)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GB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b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number of trees in the </a:t>
            </a:r>
            <a: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forest.</a:t>
            </a:r>
            <a:b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h_i</a:t>
            </a:r>
            <a: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single decision </a:t>
            </a:r>
            <a: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tree.</a:t>
            </a:r>
            <a:b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the chemical descriptors of the polymer.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1845" y="55984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reeform 7"/>
          <p:cNvSpPr/>
          <p:nvPr/>
        </p:nvSpPr>
        <p:spPr>
          <a:xfrm>
            <a:off x="3495369" y="3908323"/>
            <a:ext cx="427704" cy="324464"/>
          </a:xfrm>
          <a:custGeom>
            <a:avLst/>
            <a:gdLst>
              <a:gd name="connsiteX0" fmla="*/ 196037 w 205367"/>
              <a:gd name="connsiteY0" fmla="*/ 6285 h 176619"/>
              <a:gd name="connsiteX1" fmla="*/ 94 w 205367"/>
              <a:gd name="connsiteY1" fmla="*/ 6285 h 176619"/>
              <a:gd name="connsiteX2" fmla="*/ 168045 w 205367"/>
              <a:gd name="connsiteY2" fmla="*/ 71599 h 176619"/>
              <a:gd name="connsiteX3" fmla="*/ 18755 w 205367"/>
              <a:gd name="connsiteY3" fmla="*/ 164905 h 176619"/>
              <a:gd name="connsiteX4" fmla="*/ 168045 w 205367"/>
              <a:gd name="connsiteY4" fmla="*/ 174236 h 176619"/>
              <a:gd name="connsiteX5" fmla="*/ 205367 w 205367"/>
              <a:gd name="connsiteY5" fmla="*/ 155574 h 176619"/>
              <a:gd name="connsiteX0" fmla="*/ 196037 w 205367"/>
              <a:gd name="connsiteY0" fmla="*/ 1928 h 186579"/>
              <a:gd name="connsiteX1" fmla="*/ 94 w 205367"/>
              <a:gd name="connsiteY1" fmla="*/ 16245 h 186579"/>
              <a:gd name="connsiteX2" fmla="*/ 168045 w 205367"/>
              <a:gd name="connsiteY2" fmla="*/ 81559 h 186579"/>
              <a:gd name="connsiteX3" fmla="*/ 18755 w 205367"/>
              <a:gd name="connsiteY3" fmla="*/ 174865 h 186579"/>
              <a:gd name="connsiteX4" fmla="*/ 168045 w 205367"/>
              <a:gd name="connsiteY4" fmla="*/ 184196 h 186579"/>
              <a:gd name="connsiteX5" fmla="*/ 205367 w 205367"/>
              <a:gd name="connsiteY5" fmla="*/ 165534 h 186579"/>
              <a:gd name="connsiteX0" fmla="*/ 196037 w 196037"/>
              <a:gd name="connsiteY0" fmla="*/ 1928 h 190556"/>
              <a:gd name="connsiteX1" fmla="*/ 94 w 196037"/>
              <a:gd name="connsiteY1" fmla="*/ 16245 h 190556"/>
              <a:gd name="connsiteX2" fmla="*/ 168045 w 196037"/>
              <a:gd name="connsiteY2" fmla="*/ 81559 h 190556"/>
              <a:gd name="connsiteX3" fmla="*/ 18755 w 196037"/>
              <a:gd name="connsiteY3" fmla="*/ 174865 h 190556"/>
              <a:gd name="connsiteX4" fmla="*/ 168045 w 196037"/>
              <a:gd name="connsiteY4" fmla="*/ 184196 h 190556"/>
              <a:gd name="connsiteX5" fmla="*/ 183371 w 196037"/>
              <a:gd name="connsiteY5" fmla="*/ 187009 h 190556"/>
              <a:gd name="connsiteX0" fmla="*/ 196037 w 196037"/>
              <a:gd name="connsiteY0" fmla="*/ 1928 h 205706"/>
              <a:gd name="connsiteX1" fmla="*/ 94 w 196037"/>
              <a:gd name="connsiteY1" fmla="*/ 16245 h 205706"/>
              <a:gd name="connsiteX2" fmla="*/ 168045 w 196037"/>
              <a:gd name="connsiteY2" fmla="*/ 81559 h 205706"/>
              <a:gd name="connsiteX3" fmla="*/ 5512 w 196037"/>
              <a:gd name="connsiteY3" fmla="*/ 200610 h 205706"/>
              <a:gd name="connsiteX4" fmla="*/ 168045 w 196037"/>
              <a:gd name="connsiteY4" fmla="*/ 184196 h 205706"/>
              <a:gd name="connsiteX5" fmla="*/ 183371 w 196037"/>
              <a:gd name="connsiteY5" fmla="*/ 187009 h 205706"/>
              <a:gd name="connsiteX0" fmla="*/ 196037 w 196037"/>
              <a:gd name="connsiteY0" fmla="*/ 1928 h 206205"/>
              <a:gd name="connsiteX1" fmla="*/ 94 w 196037"/>
              <a:gd name="connsiteY1" fmla="*/ 16245 h 206205"/>
              <a:gd name="connsiteX2" fmla="*/ 168045 w 196037"/>
              <a:gd name="connsiteY2" fmla="*/ 81559 h 206205"/>
              <a:gd name="connsiteX3" fmla="*/ 5512 w 196037"/>
              <a:gd name="connsiteY3" fmla="*/ 200610 h 206205"/>
              <a:gd name="connsiteX4" fmla="*/ 168045 w 196037"/>
              <a:gd name="connsiteY4" fmla="*/ 184196 h 206205"/>
              <a:gd name="connsiteX5" fmla="*/ 183371 w 196037"/>
              <a:gd name="connsiteY5" fmla="*/ 161264 h 206205"/>
              <a:gd name="connsiteX0" fmla="*/ 196037 w 196037"/>
              <a:gd name="connsiteY0" fmla="*/ 1928 h 206205"/>
              <a:gd name="connsiteX1" fmla="*/ 94 w 196037"/>
              <a:gd name="connsiteY1" fmla="*/ 16245 h 206205"/>
              <a:gd name="connsiteX2" fmla="*/ 168045 w 196037"/>
              <a:gd name="connsiteY2" fmla="*/ 81559 h 206205"/>
              <a:gd name="connsiteX3" fmla="*/ 5512 w 196037"/>
              <a:gd name="connsiteY3" fmla="*/ 200610 h 206205"/>
              <a:gd name="connsiteX4" fmla="*/ 168045 w 196037"/>
              <a:gd name="connsiteY4" fmla="*/ 184196 h 206205"/>
              <a:gd name="connsiteX5" fmla="*/ 183371 w 196037"/>
              <a:gd name="connsiteY5" fmla="*/ 161264 h 206205"/>
              <a:gd name="connsiteX0" fmla="*/ 196037 w 196037"/>
              <a:gd name="connsiteY0" fmla="*/ 1928 h 206205"/>
              <a:gd name="connsiteX1" fmla="*/ 94 w 196037"/>
              <a:gd name="connsiteY1" fmla="*/ 16245 h 206205"/>
              <a:gd name="connsiteX2" fmla="*/ 168045 w 196037"/>
              <a:gd name="connsiteY2" fmla="*/ 81559 h 206205"/>
              <a:gd name="connsiteX3" fmla="*/ 5512 w 196037"/>
              <a:gd name="connsiteY3" fmla="*/ 200610 h 206205"/>
              <a:gd name="connsiteX4" fmla="*/ 168045 w 196037"/>
              <a:gd name="connsiteY4" fmla="*/ 184196 h 206205"/>
              <a:gd name="connsiteX5" fmla="*/ 183371 w 196037"/>
              <a:gd name="connsiteY5" fmla="*/ 161264 h 20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037" h="206205">
                <a:moveTo>
                  <a:pt x="196037" y="1928"/>
                </a:moveTo>
                <a:cubicBezTo>
                  <a:pt x="100398" y="-3515"/>
                  <a:pt x="4759" y="2973"/>
                  <a:pt x="94" y="16245"/>
                </a:cubicBezTo>
                <a:cubicBezTo>
                  <a:pt x="-4571" y="29517"/>
                  <a:pt x="167142" y="50832"/>
                  <a:pt x="168045" y="81559"/>
                </a:cubicBezTo>
                <a:cubicBezTo>
                  <a:pt x="168948" y="112286"/>
                  <a:pt x="5512" y="183504"/>
                  <a:pt x="5512" y="200610"/>
                </a:cubicBezTo>
                <a:cubicBezTo>
                  <a:pt x="5512" y="217716"/>
                  <a:pt x="138402" y="190754"/>
                  <a:pt x="168045" y="184196"/>
                </a:cubicBezTo>
                <a:cubicBezTo>
                  <a:pt x="197688" y="177638"/>
                  <a:pt x="180261" y="169817"/>
                  <a:pt x="183371" y="161264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7406597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download (4).png" descr="download (4)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1233" y="202137"/>
            <a:ext cx="11456220" cy="66827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4"/>
          <p:cNvSpPr txBox="1">
            <a:spLocks noGrp="1"/>
          </p:cNvSpPr>
          <p:nvPr>
            <p:ph type="title"/>
          </p:nvPr>
        </p:nvSpPr>
        <p:spPr>
          <a:xfrm>
            <a:off x="1656138" y="27730"/>
            <a:ext cx="8879724" cy="1138212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t>Our Simulations are Reliable</a:t>
            </a:r>
          </a:p>
        </p:txBody>
      </p:sp>
      <p:pic>
        <p:nvPicPr>
          <p:cNvPr id="127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Rectangle"/>
          <p:cNvSpPr/>
          <p:nvPr/>
        </p:nvSpPr>
        <p:spPr>
          <a:xfrm>
            <a:off x="543606" y="1566601"/>
            <a:ext cx="1871641" cy="92575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9" name="Rectangle"/>
          <p:cNvSpPr/>
          <p:nvPr/>
        </p:nvSpPr>
        <p:spPr>
          <a:xfrm>
            <a:off x="6121587" y="1520864"/>
            <a:ext cx="1877352" cy="92575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0" name="Rectangle"/>
          <p:cNvSpPr/>
          <p:nvPr/>
        </p:nvSpPr>
        <p:spPr>
          <a:xfrm>
            <a:off x="8948413" y="1492661"/>
            <a:ext cx="2020776" cy="92575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Rectangle"/>
          <p:cNvSpPr/>
          <p:nvPr/>
        </p:nvSpPr>
        <p:spPr>
          <a:xfrm>
            <a:off x="8870974" y="3225987"/>
            <a:ext cx="2166100" cy="92575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2" name="Monomer"/>
          <p:cNvSpPr txBox="1"/>
          <p:nvPr/>
        </p:nvSpPr>
        <p:spPr>
          <a:xfrm>
            <a:off x="688680" y="1764909"/>
            <a:ext cx="158149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2800"/>
            </a:lvl1pPr>
          </a:lstStyle>
          <a:p>
            <a:r>
              <a:t>Monomer</a:t>
            </a:r>
          </a:p>
        </p:txBody>
      </p:sp>
      <p:sp>
        <p:nvSpPr>
          <p:cNvPr id="133" name="Anneal"/>
          <p:cNvSpPr txBox="1"/>
          <p:nvPr/>
        </p:nvSpPr>
        <p:spPr>
          <a:xfrm>
            <a:off x="6455542" y="1787506"/>
            <a:ext cx="1126218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2800"/>
            </a:lvl1pPr>
          </a:lstStyle>
          <a:p>
            <a:r>
              <a:t>Anneal</a:t>
            </a:r>
          </a:p>
        </p:txBody>
      </p:sp>
      <p:sp>
        <p:nvSpPr>
          <p:cNvPr id="134" name="NEMD (Heat/Sink)"/>
          <p:cNvSpPr txBox="1"/>
          <p:nvPr/>
        </p:nvSpPr>
        <p:spPr>
          <a:xfrm>
            <a:off x="9007666" y="1567608"/>
            <a:ext cx="1902269" cy="822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2600"/>
            </a:lvl1pPr>
          </a:lstStyle>
          <a:p>
            <a:r>
              <a:t>NEMD (Heat/Sink)</a:t>
            </a:r>
          </a:p>
        </p:txBody>
      </p:sp>
      <p:sp>
        <p:nvSpPr>
          <p:cNvPr id="135" name="Get TC (κ)"/>
          <p:cNvSpPr txBox="1"/>
          <p:nvPr/>
        </p:nvSpPr>
        <p:spPr>
          <a:xfrm>
            <a:off x="9002889" y="3470033"/>
            <a:ext cx="1902269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2800"/>
            </a:lvl1pPr>
          </a:lstStyle>
          <a:p>
            <a:r>
              <a:t>Get TC (κ)</a:t>
            </a:r>
          </a:p>
        </p:txBody>
      </p:sp>
      <p:sp>
        <p:nvSpPr>
          <p:cNvPr id="136" name="The core calculation is Fourier's Law:  κ = -J / ∇T,  where 'J' is heat flux and '∇T' is the temperature gradient."/>
          <p:cNvSpPr txBox="1"/>
          <p:nvPr/>
        </p:nvSpPr>
        <p:spPr>
          <a:xfrm>
            <a:off x="644368" y="4417450"/>
            <a:ext cx="10903265" cy="105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000">
                <a:solidFill>
                  <a:srgbClr val="080500"/>
                </a:solidFill>
              </a:defRPr>
            </a:pPr>
            <a:r>
              <a:t>The core calculation is Fourier's Law:  κ = -J / ∇T, </a:t>
            </a:r>
            <a:br/>
            <a:r>
              <a:t>where 'J' is heat flux and '∇T' is the temperature gradient.</a:t>
            </a:r>
          </a:p>
        </p:txBody>
      </p:sp>
      <p:sp>
        <p:nvSpPr>
          <p:cNvPr id="137" name="Rectangle"/>
          <p:cNvSpPr/>
          <p:nvPr/>
        </p:nvSpPr>
        <p:spPr>
          <a:xfrm>
            <a:off x="3412669" y="1566601"/>
            <a:ext cx="1871642" cy="92575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8" name="Polymer"/>
          <p:cNvSpPr txBox="1"/>
          <p:nvPr/>
        </p:nvSpPr>
        <p:spPr>
          <a:xfrm>
            <a:off x="3652194" y="1810647"/>
            <a:ext cx="139259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2800"/>
            </a:lvl1pPr>
          </a:lstStyle>
          <a:p>
            <a:r>
              <a:t>Polymer</a:t>
            </a:r>
          </a:p>
        </p:txBody>
      </p:sp>
      <p:sp>
        <p:nvSpPr>
          <p:cNvPr id="139" name="Arrow 11"/>
          <p:cNvSpPr/>
          <p:nvPr/>
        </p:nvSpPr>
        <p:spPr>
          <a:xfrm>
            <a:off x="2471589" y="1753420"/>
            <a:ext cx="733313" cy="5521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69" y="0"/>
                </a:moveTo>
                <a:cubicBezTo>
                  <a:pt x="13010" y="0"/>
                  <a:pt x="12551" y="232"/>
                  <a:pt x="12200" y="697"/>
                </a:cubicBezTo>
                <a:cubicBezTo>
                  <a:pt x="11500" y="1626"/>
                  <a:pt x="11500" y="3135"/>
                  <a:pt x="12200" y="4065"/>
                </a:cubicBezTo>
                <a:lnTo>
                  <a:pt x="15479" y="8419"/>
                </a:lnTo>
                <a:lnTo>
                  <a:pt x="1793" y="8419"/>
                </a:lnTo>
                <a:cubicBezTo>
                  <a:pt x="802" y="8419"/>
                  <a:pt x="0" y="9485"/>
                  <a:pt x="0" y="10800"/>
                </a:cubicBezTo>
                <a:cubicBezTo>
                  <a:pt x="0" y="12115"/>
                  <a:pt x="802" y="13181"/>
                  <a:pt x="1793" y="13181"/>
                </a:cubicBezTo>
                <a:lnTo>
                  <a:pt x="15479" y="13181"/>
                </a:lnTo>
                <a:lnTo>
                  <a:pt x="12200" y="17535"/>
                </a:lnTo>
                <a:cubicBezTo>
                  <a:pt x="11500" y="18465"/>
                  <a:pt x="11500" y="19974"/>
                  <a:pt x="12200" y="20903"/>
                </a:cubicBezTo>
                <a:cubicBezTo>
                  <a:pt x="12551" y="21368"/>
                  <a:pt x="13010" y="21600"/>
                  <a:pt x="13469" y="21600"/>
                </a:cubicBezTo>
                <a:cubicBezTo>
                  <a:pt x="13927" y="21600"/>
                  <a:pt x="14387" y="21368"/>
                  <a:pt x="14737" y="20903"/>
                </a:cubicBezTo>
                <a:lnTo>
                  <a:pt x="21074" y="12484"/>
                </a:lnTo>
                <a:cubicBezTo>
                  <a:pt x="21424" y="12019"/>
                  <a:pt x="21600" y="11409"/>
                  <a:pt x="21600" y="10800"/>
                </a:cubicBezTo>
                <a:cubicBezTo>
                  <a:pt x="21600" y="10191"/>
                  <a:pt x="21424" y="9581"/>
                  <a:pt x="21074" y="9116"/>
                </a:cubicBezTo>
                <a:lnTo>
                  <a:pt x="14737" y="697"/>
                </a:lnTo>
                <a:cubicBezTo>
                  <a:pt x="14387" y="232"/>
                  <a:pt x="13927" y="0"/>
                  <a:pt x="134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" name="Arrow 11"/>
          <p:cNvSpPr/>
          <p:nvPr/>
        </p:nvSpPr>
        <p:spPr>
          <a:xfrm>
            <a:off x="5336292" y="1753420"/>
            <a:ext cx="733313" cy="5521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69" y="0"/>
                </a:moveTo>
                <a:cubicBezTo>
                  <a:pt x="13010" y="0"/>
                  <a:pt x="12551" y="232"/>
                  <a:pt x="12200" y="697"/>
                </a:cubicBezTo>
                <a:cubicBezTo>
                  <a:pt x="11500" y="1626"/>
                  <a:pt x="11500" y="3135"/>
                  <a:pt x="12200" y="4065"/>
                </a:cubicBezTo>
                <a:lnTo>
                  <a:pt x="15479" y="8419"/>
                </a:lnTo>
                <a:lnTo>
                  <a:pt x="1793" y="8419"/>
                </a:lnTo>
                <a:cubicBezTo>
                  <a:pt x="802" y="8419"/>
                  <a:pt x="0" y="9485"/>
                  <a:pt x="0" y="10800"/>
                </a:cubicBezTo>
                <a:cubicBezTo>
                  <a:pt x="0" y="12115"/>
                  <a:pt x="802" y="13181"/>
                  <a:pt x="1793" y="13181"/>
                </a:cubicBezTo>
                <a:lnTo>
                  <a:pt x="15479" y="13181"/>
                </a:lnTo>
                <a:lnTo>
                  <a:pt x="12200" y="17535"/>
                </a:lnTo>
                <a:cubicBezTo>
                  <a:pt x="11500" y="18465"/>
                  <a:pt x="11500" y="19974"/>
                  <a:pt x="12200" y="20903"/>
                </a:cubicBezTo>
                <a:cubicBezTo>
                  <a:pt x="12551" y="21368"/>
                  <a:pt x="13010" y="21600"/>
                  <a:pt x="13469" y="21600"/>
                </a:cubicBezTo>
                <a:cubicBezTo>
                  <a:pt x="13927" y="21600"/>
                  <a:pt x="14387" y="21368"/>
                  <a:pt x="14737" y="20903"/>
                </a:cubicBezTo>
                <a:lnTo>
                  <a:pt x="21074" y="12484"/>
                </a:lnTo>
                <a:cubicBezTo>
                  <a:pt x="21424" y="12019"/>
                  <a:pt x="21600" y="11409"/>
                  <a:pt x="21600" y="10800"/>
                </a:cubicBezTo>
                <a:cubicBezTo>
                  <a:pt x="21600" y="10191"/>
                  <a:pt x="21424" y="9581"/>
                  <a:pt x="21074" y="9116"/>
                </a:cubicBezTo>
                <a:lnTo>
                  <a:pt x="14737" y="697"/>
                </a:lnTo>
                <a:cubicBezTo>
                  <a:pt x="14387" y="232"/>
                  <a:pt x="13927" y="0"/>
                  <a:pt x="134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1" name="Arrow 11"/>
          <p:cNvSpPr/>
          <p:nvPr/>
        </p:nvSpPr>
        <p:spPr>
          <a:xfrm>
            <a:off x="8139821" y="1730280"/>
            <a:ext cx="733313" cy="5521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69" y="0"/>
                </a:moveTo>
                <a:cubicBezTo>
                  <a:pt x="13010" y="0"/>
                  <a:pt x="12551" y="232"/>
                  <a:pt x="12200" y="697"/>
                </a:cubicBezTo>
                <a:cubicBezTo>
                  <a:pt x="11500" y="1626"/>
                  <a:pt x="11500" y="3135"/>
                  <a:pt x="12200" y="4065"/>
                </a:cubicBezTo>
                <a:lnTo>
                  <a:pt x="15479" y="8419"/>
                </a:lnTo>
                <a:lnTo>
                  <a:pt x="1793" y="8419"/>
                </a:lnTo>
                <a:cubicBezTo>
                  <a:pt x="802" y="8419"/>
                  <a:pt x="0" y="9485"/>
                  <a:pt x="0" y="10800"/>
                </a:cubicBezTo>
                <a:cubicBezTo>
                  <a:pt x="0" y="12115"/>
                  <a:pt x="802" y="13181"/>
                  <a:pt x="1793" y="13181"/>
                </a:cubicBezTo>
                <a:lnTo>
                  <a:pt x="15479" y="13181"/>
                </a:lnTo>
                <a:lnTo>
                  <a:pt x="12200" y="17535"/>
                </a:lnTo>
                <a:cubicBezTo>
                  <a:pt x="11500" y="18465"/>
                  <a:pt x="11500" y="19974"/>
                  <a:pt x="12200" y="20903"/>
                </a:cubicBezTo>
                <a:cubicBezTo>
                  <a:pt x="12551" y="21368"/>
                  <a:pt x="13010" y="21600"/>
                  <a:pt x="13469" y="21600"/>
                </a:cubicBezTo>
                <a:cubicBezTo>
                  <a:pt x="13927" y="21600"/>
                  <a:pt x="14387" y="21368"/>
                  <a:pt x="14737" y="20903"/>
                </a:cubicBezTo>
                <a:lnTo>
                  <a:pt x="21074" y="12484"/>
                </a:lnTo>
                <a:cubicBezTo>
                  <a:pt x="21424" y="12019"/>
                  <a:pt x="21600" y="11409"/>
                  <a:pt x="21600" y="10800"/>
                </a:cubicBezTo>
                <a:cubicBezTo>
                  <a:pt x="21600" y="10191"/>
                  <a:pt x="21424" y="9581"/>
                  <a:pt x="21074" y="9116"/>
                </a:cubicBezTo>
                <a:lnTo>
                  <a:pt x="14737" y="697"/>
                </a:lnTo>
                <a:cubicBezTo>
                  <a:pt x="14387" y="232"/>
                  <a:pt x="13927" y="0"/>
                  <a:pt x="134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2" name="Arrow 11"/>
          <p:cNvSpPr/>
          <p:nvPr/>
        </p:nvSpPr>
        <p:spPr>
          <a:xfrm rot="5300028">
            <a:off x="9400158" y="2591122"/>
            <a:ext cx="678151" cy="5105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69" y="0"/>
                </a:moveTo>
                <a:cubicBezTo>
                  <a:pt x="13010" y="0"/>
                  <a:pt x="12551" y="232"/>
                  <a:pt x="12200" y="697"/>
                </a:cubicBezTo>
                <a:cubicBezTo>
                  <a:pt x="11500" y="1626"/>
                  <a:pt x="11500" y="3135"/>
                  <a:pt x="12200" y="4065"/>
                </a:cubicBezTo>
                <a:lnTo>
                  <a:pt x="15479" y="8419"/>
                </a:lnTo>
                <a:lnTo>
                  <a:pt x="1793" y="8419"/>
                </a:lnTo>
                <a:cubicBezTo>
                  <a:pt x="802" y="8419"/>
                  <a:pt x="0" y="9485"/>
                  <a:pt x="0" y="10800"/>
                </a:cubicBezTo>
                <a:cubicBezTo>
                  <a:pt x="0" y="12115"/>
                  <a:pt x="802" y="13181"/>
                  <a:pt x="1793" y="13181"/>
                </a:cubicBezTo>
                <a:lnTo>
                  <a:pt x="15479" y="13181"/>
                </a:lnTo>
                <a:lnTo>
                  <a:pt x="12200" y="17535"/>
                </a:lnTo>
                <a:cubicBezTo>
                  <a:pt x="11500" y="18465"/>
                  <a:pt x="11500" y="19974"/>
                  <a:pt x="12200" y="20903"/>
                </a:cubicBezTo>
                <a:cubicBezTo>
                  <a:pt x="12551" y="21368"/>
                  <a:pt x="13010" y="21600"/>
                  <a:pt x="13469" y="21600"/>
                </a:cubicBezTo>
                <a:cubicBezTo>
                  <a:pt x="13927" y="21600"/>
                  <a:pt x="14387" y="21368"/>
                  <a:pt x="14737" y="20903"/>
                </a:cubicBezTo>
                <a:lnTo>
                  <a:pt x="21074" y="12484"/>
                </a:lnTo>
                <a:cubicBezTo>
                  <a:pt x="21424" y="12019"/>
                  <a:pt x="21600" y="11409"/>
                  <a:pt x="21600" y="10800"/>
                </a:cubicBezTo>
                <a:cubicBezTo>
                  <a:pt x="21600" y="10191"/>
                  <a:pt x="21424" y="9581"/>
                  <a:pt x="21074" y="9116"/>
                </a:cubicBezTo>
                <a:lnTo>
                  <a:pt x="14737" y="697"/>
                </a:lnTo>
                <a:cubicBezTo>
                  <a:pt x="14387" y="232"/>
                  <a:pt x="13927" y="0"/>
                  <a:pt x="134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r">
              <a:defRPr sz="1200">
                <a:solidFill>
                  <a:srgbClr val="888888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613393" cy="6540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download (5).png" descr="download (5)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2179" y="-132640"/>
            <a:ext cx="10339071" cy="6031124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While noisy, polymers with TC &gt; 0.300 W/m-K (top-right quadrant) almost always stayed above that threshold. This confirms the MD data is reliable for our screening goal."/>
          <p:cNvSpPr txBox="1">
            <a:spLocks noGrp="1"/>
          </p:cNvSpPr>
          <p:nvPr>
            <p:ph type="body" sz="half" idx="4294967295"/>
          </p:nvPr>
        </p:nvSpPr>
        <p:spPr>
          <a:xfrm>
            <a:off x="609600" y="5984085"/>
            <a:ext cx="10972800" cy="1578067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noisy, polymers with TC &gt; 0.300 W/m-K (top-right quadrant) almost always stayed above that threshold. This confirms the MD data is reliable for our screening goal.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4"/>
          <p:cNvSpPr txBox="1">
            <a:spLocks noGrp="1"/>
          </p:cNvSpPr>
          <p:nvPr>
            <p:ph type="title"/>
          </p:nvPr>
        </p:nvSpPr>
        <p:spPr>
          <a:xfrm>
            <a:off x="613393" y="28396"/>
            <a:ext cx="10515600" cy="1251384"/>
          </a:xfrm>
          <a:prstGeom prst="rect">
            <a:avLst/>
          </a:prstGeom>
        </p:spPr>
        <p:txBody>
          <a:bodyPr/>
          <a:lstStyle>
            <a:lvl1pPr algn="ctr">
              <a:defRPr sz="3800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dirty="0"/>
              <a:t>ML Screening is 8x More Efficient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70780" y="985520"/>
            <a:ext cx="11618020" cy="5191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Search (Our 1st Dataset)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randomly simulated 365 polymers.  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41 polymers were high-TC (&gt;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0.300 W/m-K).  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Rate: 11% (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Inefficient)</a:t>
            </a:r>
          </a:p>
          <a:p>
            <a:pPr marL="0" indent="0">
              <a:buNone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ML-Guided Search (Our 2nd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Dataset)</a:t>
            </a:r>
          </a:p>
          <a:p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Our trained AI screened a massive database of 12,777 polymers.  </a:t>
            </a:r>
            <a:endParaRPr lang="en-GB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The AI predicted 89 "top candidates" most likely to be high-TC.  </a:t>
            </a:r>
            <a:endParaRPr lang="en-GB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We only had to simulate those 89 candidates.  </a:t>
            </a:r>
            <a:endParaRPr lang="en-GB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 80 out of 89 were confirmed to be high-TC.  </a:t>
            </a:r>
            <a:endParaRPr lang="en-GB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Hit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Rate: 89.9% (Highly Efficient!)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9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Randomly (Our 1st dataset): We simulated 365 polymers and only 11% (41 polymers) were high-TC. (This is very inefficient.)…"/>
          <p:cNvSpPr txBox="1"/>
          <p:nvPr/>
        </p:nvSpPr>
        <p:spPr>
          <a:xfrm>
            <a:off x="370780" y="1593221"/>
            <a:ext cx="11908766" cy="3429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457200">
              <a:spcBef>
                <a:spcPts val="120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Date Placeholder 1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Saturday, November 1, 2025</a:t>
            </a:r>
          </a:p>
        </p:txBody>
      </p:sp>
      <p:pic>
        <p:nvPicPr>
          <p:cNvPr id="153" name="download (6).png" descr="download (6)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3152" y="12764"/>
            <a:ext cx="11734688" cy="68452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0971281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Date Placeholder 1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Saturday, November 1, 2025</a:t>
            </a:r>
          </a:p>
        </p:txBody>
      </p:sp>
      <p:pic>
        <p:nvPicPr>
          <p:cNvPr id="154" name="download (8).png" descr="download (8).png"/>
          <p:cNvPicPr>
            <a:picLocks noChangeAspect="1"/>
          </p:cNvPicPr>
          <p:nvPr/>
        </p:nvPicPr>
        <p:blipFill>
          <a:blip r:embed="rId3">
            <a:extLst/>
          </a:blip>
          <a:srcRect l="3773"/>
          <a:stretch>
            <a:fillRect/>
          </a:stretch>
        </p:blipFill>
        <p:spPr>
          <a:xfrm>
            <a:off x="670560" y="0"/>
            <a:ext cx="11277600" cy="66630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4"/>
          <p:cNvSpPr txBox="1">
            <a:spLocks noGrp="1"/>
          </p:cNvSpPr>
          <p:nvPr>
            <p:ph type="title"/>
          </p:nvPr>
        </p:nvSpPr>
        <p:spPr>
          <a:xfrm>
            <a:off x="746760" y="135788"/>
            <a:ext cx="10515600" cy="10366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600" dirty="0"/>
              <a:t>Results: Visualizing Our Success</a:t>
            </a:r>
            <a:endParaRPr sz="36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09600" y="1097280"/>
            <a:ext cx="10789920" cy="507968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histograms show the distribution of TC in our data. The blue bars represent the high-TC polymers we wanted to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(Left): In our first random dataset, the high-TC polymers (blue) are rare.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(Right): After the ML-guided search, our dataset is now enriched with high-TC polymers. We went from 41 total to 121 total.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7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6760" y="289490"/>
            <a:ext cx="613393" cy="6540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4"/>
          <p:cNvSpPr txBox="1">
            <a:spLocks noGrp="1"/>
          </p:cNvSpPr>
          <p:nvPr>
            <p:ph type="title"/>
          </p:nvPr>
        </p:nvSpPr>
        <p:spPr>
          <a:xfrm>
            <a:off x="746760" y="135788"/>
            <a:ext cx="10515600" cy="10366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GB" sz="3600" dirty="0"/>
              <a:t>What We Found: 121 New High-TC Polymers</a:t>
            </a:r>
            <a:endParaRPr sz="36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09600" y="1172388"/>
            <a:ext cx="10789920" cy="5004575"/>
          </a:xfrm>
        </p:spPr>
        <p:txBody>
          <a:bodyPr>
            <a:noAutofit/>
          </a:bodyPr>
          <a:lstStyle/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ML-guided search was a huge success, identifying 121 new amorphous polymers with TC &gt; 0.300 </a:t>
            </a:r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W/m-K.  </a:t>
            </a:r>
          </a:p>
          <a:p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34 polymers with exceptionally high thermal conductivity (TC &gt; 0.400 </a:t>
            </a:r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W/m-K).  </a:t>
            </a:r>
          </a:p>
          <a:p>
            <a:pPr marL="0" indent="0">
              <a:buNone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These New Polymers Have in Common</a:t>
            </a:r>
            <a:r>
              <a:rPr lang="en-GB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helped identify the most promising chemical classes for high thermal conductivity. The two strongest candidates for future research are</a:t>
            </a:r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Polyamides 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Polysulfides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7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1484" y="289490"/>
            <a:ext cx="613393" cy="6540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3678508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We Also Built a Better, &quot;Smarter&quot; AI"/>
          <p:cNvSpPr txBox="1">
            <a:spLocks noGrp="1"/>
          </p:cNvSpPr>
          <p:nvPr>
            <p:ph type="title" idx="4294967295"/>
          </p:nvPr>
        </p:nvSpPr>
        <p:spPr>
          <a:xfrm>
            <a:off x="1628775" y="0"/>
            <a:ext cx="8934450" cy="862956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t>We Also Built a Better, "Smarter" AI</a:t>
            </a:r>
          </a:p>
        </p:txBody>
      </p:sp>
      <p:pic>
        <p:nvPicPr>
          <p:cNvPr id="161" name="download (7).png" descr="download (7)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6864" y="518160"/>
            <a:ext cx="11215855" cy="64182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sz="3600" dirty="0" smtClean="0"/>
              <a:t>Conclusion</a:t>
            </a:r>
            <a:r>
              <a:rPr dirty="0" smtClean="0"/>
              <a:t> 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8480" y="1526933"/>
            <a:ext cx="11287760" cy="4815523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proved that combining Molecular Dynamics (MD) and Machine Learning (ML) is a powerful and effective strategy for discovering new materials.  </a:t>
            </a:r>
            <a:endParaRPr lang="en-GB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increased our discovery "hit rate" from 11% (random search) to 89.9% (ML-guided search). </a:t>
            </a:r>
            <a:endParaRPr lang="en-GB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a new, valuable database of 121 high-TC polymers for future experimental research.  </a:t>
            </a:r>
            <a:endParaRPr lang="en-GB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Polyamides and 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Polysulfides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most promising chemical structures to investigate next.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4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227425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Box 3"/>
          <p:cNvSpPr txBox="1"/>
          <p:nvPr/>
        </p:nvSpPr>
        <p:spPr>
          <a:xfrm>
            <a:off x="457200" y="1036642"/>
            <a:ext cx="11369040" cy="48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596900" lvl="1" indent="0">
              <a:lnSpc>
                <a:spcPct val="90000"/>
              </a:lnSpc>
              <a:spcBef>
                <a:spcPts val="1000"/>
              </a:spcBef>
              <a:buSzPct val="100000"/>
              <a:defRPr sz="2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4"/>
          <p:cNvSpPr txBox="1">
            <a:spLocks noGrp="1"/>
          </p:cNvSpPr>
          <p:nvPr>
            <p:ph type="title"/>
          </p:nvPr>
        </p:nvSpPr>
        <p:spPr>
          <a:xfrm>
            <a:off x="1657350" y="356244"/>
            <a:ext cx="8934450" cy="862956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dirty="0"/>
              <a:t>8. REFERENCES</a:t>
            </a:r>
          </a:p>
        </p:txBody>
      </p:sp>
      <p:pic>
        <p:nvPicPr>
          <p:cNvPr id="168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613393" cy="654088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TextBox 8"/>
          <p:cNvSpPr txBox="1"/>
          <p:nvPr/>
        </p:nvSpPr>
        <p:spPr>
          <a:xfrm>
            <a:off x="264847" y="1084836"/>
            <a:ext cx="11719456" cy="5824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Henry, Thermal transport in polymers, Annual Review of Heat Transfer 17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(2014)</a:t>
            </a: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Mehra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Thermal transport in polymeric materials and across composite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interfaces, Appl. Mater. Today 12 (2018) 92–130</a:t>
            </a: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Xu, J. Chen, J. Zhou, B. Li, Thermal conductivity of polymers and their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nanocomposites, Adv. Mater. 30 (17) (2018)</a:t>
            </a: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Wei, Z. Wang, Z. Tian, T. Luo, Thermal transport in polymers: a review, J. Heat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Tran. 143 (7) (2021)</a:t>
            </a: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Han,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Alberto, Thermal conductivity of carbon nanotubes and their polymer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nanocomposites: a review,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Polym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Sci. 36 (7) (2011) 914–944</a:t>
            </a: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O. Breuer,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Uttandaraman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Sundararaj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Big returns from small fibers: a review of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888888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polymer/carbon nanotube composites, </a:t>
            </a:r>
            <a:r>
              <a:rPr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Polym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Compos. 25 (6) (2004) 630–645</a:t>
            </a:r>
            <a:r>
              <a:rPr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3291439" y="2773197"/>
            <a:ext cx="5609122" cy="1092951"/>
          </a:xfrm>
          <a:prstGeom prst="rect">
            <a:avLst/>
          </a:prstGeom>
        </p:spPr>
        <p:txBody>
          <a:bodyPr/>
          <a:lstStyle>
            <a:lvl1pPr marL="0" indent="0" algn="ctr" defTabSz="868680">
              <a:spcBef>
                <a:spcPts val="900"/>
              </a:spcBef>
              <a:buSzTx/>
              <a:buNone/>
              <a:defRPr sz="6840" b="1">
                <a:solidFill>
                  <a:srgbClr val="9933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t>THANK YOU</a:t>
            </a:r>
          </a:p>
        </p:txBody>
      </p:sp>
      <p:sp>
        <p:nvSpPr>
          <p:cNvPr id="172" name="Questions?"/>
          <p:cNvSpPr txBox="1"/>
          <p:nvPr/>
        </p:nvSpPr>
        <p:spPr>
          <a:xfrm>
            <a:off x="5277440" y="3964270"/>
            <a:ext cx="1655259" cy="452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600" b="1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r>
              <a:rPr dirty="0"/>
              <a:t>?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1383</Words>
  <Application>Microsoft Office PowerPoint</Application>
  <PresentationFormat>Widescreen</PresentationFormat>
  <Paragraphs>103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Helvetica</vt:lpstr>
      <vt:lpstr>Times New Roman</vt:lpstr>
      <vt:lpstr>Times Roman</vt:lpstr>
      <vt:lpstr>Trebuchet MS</vt:lpstr>
      <vt:lpstr>Wingdings</vt:lpstr>
      <vt:lpstr>Office Theme</vt:lpstr>
      <vt:lpstr>NATIONAL INSTITUTE OF TECHNOLOGY, WARANGAL</vt:lpstr>
      <vt:lpstr> Machine Learning-Assisted Exploration of Thermally Conductive Polymers</vt:lpstr>
      <vt:lpstr>CONTENTS OF THE PRESENTATION</vt:lpstr>
      <vt:lpstr>PowerPoint Presentation</vt:lpstr>
      <vt:lpstr>PowerPoint Presentation</vt:lpstr>
      <vt:lpstr>PowerPoint Presentation</vt:lpstr>
      <vt:lpstr> Our Workflow: Simulate, Learn, Discover </vt:lpstr>
      <vt:lpstr>How We Simulate: Molecular Dynamics (MD)</vt:lpstr>
      <vt:lpstr>How We Screen: Machine Learning (ML)</vt:lpstr>
      <vt:lpstr>PowerPoint Presentation</vt:lpstr>
      <vt:lpstr>Our Simulations are Reliable</vt:lpstr>
      <vt:lpstr>PowerPoint Presentation</vt:lpstr>
      <vt:lpstr>ML Screening is 8x More Efficient</vt:lpstr>
      <vt:lpstr>PowerPoint Presentation</vt:lpstr>
      <vt:lpstr>PowerPoint Presentation</vt:lpstr>
      <vt:lpstr>Results: Visualizing Our Success</vt:lpstr>
      <vt:lpstr>What We Found: 121 New High-TC Polymers</vt:lpstr>
      <vt:lpstr>We Also Built a Better, "Smarter" AI</vt:lpstr>
      <vt:lpstr>Conclusion </vt:lpstr>
      <vt:lpstr>8.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INSTITUTE OF TECHNOLOGY, WARANGAL</dc:title>
  <dc:creator>AbhaySinghRathore</dc:creator>
  <cp:lastModifiedBy>DELL</cp:lastModifiedBy>
  <cp:revision>14</cp:revision>
  <dcterms:modified xsi:type="dcterms:W3CDTF">2025-11-02T10:44:21Z</dcterms:modified>
</cp:coreProperties>
</file>